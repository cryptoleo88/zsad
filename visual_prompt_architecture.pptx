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E1E1E"/>
                </a:solidFill>
              </a:rPr>
              <a:t>视觉 Prompt 融合后的 AnomalyCLIP 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9436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</a:rPr>
              <a:t>基于当前 train_visual_prompt.py 的实际实现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97280"/>
            <a:ext cx="1280160" cy="502920"/>
          </a:xfrm>
          <a:prstGeom prst="roundRect">
            <a:avLst/>
          </a:prstGeom>
          <a:solidFill>
            <a:srgbClr val="DFF0D8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输入图像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965960"/>
            <a:ext cx="1280160" cy="502920"/>
          </a:xfrm>
          <a:prstGeom prst="roundRect">
            <a:avLst/>
          </a:prstGeom>
          <a:solidFill>
            <a:srgbClr val="DEEBF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文本 Prompt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914400"/>
            <a:ext cx="1645920" cy="822960"/>
          </a:xfrm>
          <a:prstGeom prst="roundRect">
            <a:avLst/>
          </a:prstGeom>
          <a:solidFill>
            <a:srgbClr val="FDE9D9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AnomalyCLIP
视觉编码器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65960" y="1828800"/>
            <a:ext cx="1645920" cy="822960"/>
          </a:xfrm>
          <a:prstGeom prst="roundRect">
            <a:avLst/>
          </a:prstGeom>
          <a:solidFill>
            <a:srgbClr val="F2F2F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PromptLearner +
文本编码器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868680"/>
            <a:ext cx="1417320" cy="548640"/>
          </a:xfrm>
          <a:prstGeom prst="roundRect">
            <a:avLst/>
          </a:prstGeom>
          <a:solidFill>
            <a:srgbClr val="FCE4D6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1414"/>
                </a:solidFill>
              </a:rPr>
              <a:t>全局视觉特征 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645920"/>
            <a:ext cx="1417320" cy="548640"/>
          </a:xfrm>
          <a:prstGeom prst="roundRect">
            <a:avLst/>
          </a:prstGeom>
          <a:solidFill>
            <a:srgbClr val="FCE4D6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1414"/>
                </a:solidFill>
              </a:rPr>
              <a:t>多层 Patch 特征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423160"/>
            <a:ext cx="1417320" cy="548640"/>
          </a:xfrm>
          <a:prstGeom prst="roundRect">
            <a:avLst/>
          </a:prstGeom>
          <a:solidFill>
            <a:srgbClr val="E0E0E0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1414"/>
                </a:solidFill>
              </a:rPr>
              <a:t>文本特征 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143000"/>
            <a:ext cx="1508760" cy="640080"/>
          </a:xfrm>
          <a:prstGeom prst="roundRect">
            <a:avLst/>
          </a:prstGeom>
          <a:solidFill>
            <a:srgbClr val="C6E0B4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Cross-Attention
Q=V, K/V=T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143000"/>
            <a:ext cx="1234440" cy="640080"/>
          </a:xfrm>
          <a:prstGeom prst="roundRect">
            <a:avLst/>
          </a:prstGeom>
          <a:solidFill>
            <a:srgbClr val="FFF2C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视觉 Prompt
V~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2194560"/>
            <a:ext cx="1508760" cy="640080"/>
          </a:xfrm>
          <a:prstGeom prst="roundRect">
            <a:avLst/>
          </a:prstGeom>
          <a:solidFill>
            <a:srgbClr val="FFD966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MLP + Residual
+ Norm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194560"/>
            <a:ext cx="1234440" cy="640080"/>
          </a:xfrm>
          <a:prstGeom prst="roundRect">
            <a:avLst/>
          </a:prstGeom>
          <a:solidFill>
            <a:srgbClr val="F4CCC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增强特征 V'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3337560"/>
            <a:ext cx="1645920" cy="640080"/>
          </a:xfrm>
          <a:prstGeom prst="roundRect">
            <a:avLst/>
          </a:prstGeom>
          <a:solidFill>
            <a:srgbClr val="DDEBF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Patch-Text
Similarity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3337560"/>
            <a:ext cx="1417320" cy="640080"/>
          </a:xfrm>
          <a:prstGeom prst="roundRect">
            <a:avLst/>
          </a:prstGeom>
          <a:solidFill>
            <a:srgbClr val="EAD1D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1414"/>
                </a:solidFill>
              </a:rPr>
              <a:t>Anomaly Maps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3337560"/>
            <a:ext cx="1143000" cy="640080"/>
          </a:xfrm>
          <a:prstGeom prst="roundRect">
            <a:avLst/>
          </a:prstGeom>
          <a:solidFill>
            <a:srgbClr val="D9EAD3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HSF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103120"/>
            <a:ext cx="1554480" cy="731520"/>
          </a:xfrm>
          <a:prstGeom prst="roundRect">
            <a:avLst/>
          </a:prstGeom>
          <a:solidFill>
            <a:srgbClr val="D0E0E3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融合
0.8·V' + 0.2·Fc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27080" y="2103120"/>
            <a:ext cx="91440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最终判别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645920" y="1325880"/>
            <a:ext cx="320040" cy="228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645920" y="2217420"/>
            <a:ext cx="320040" cy="228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611880" y="1143000"/>
            <a:ext cx="457200" cy="18288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611880" y="1325880"/>
            <a:ext cx="457200" cy="5943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611880" y="2240280"/>
            <a:ext cx="457200" cy="45720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486400" y="1143000"/>
            <a:ext cx="320040" cy="32004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486400" y="1463040"/>
            <a:ext cx="320040" cy="123444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15200" y="1463040"/>
            <a:ext cx="2286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806440" y="1463040"/>
            <a:ext cx="2971800" cy="10515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486400" y="1143000"/>
            <a:ext cx="320040" cy="137160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315200" y="2514600"/>
            <a:ext cx="2286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486400" y="1920240"/>
            <a:ext cx="182880" cy="17373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486400" y="2697480"/>
            <a:ext cx="182880" cy="96012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315200" y="3657600"/>
            <a:ext cx="32004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052560" y="3657600"/>
            <a:ext cx="27432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9144000" y="2468880"/>
            <a:ext cx="1325880" cy="118872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778240" y="2468880"/>
            <a:ext cx="365760" cy="4572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0698480" y="2468880"/>
            <a:ext cx="22860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00" y="425196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464646"/>
                </a:solidFill>
              </a:rPr>
              <a:t>Fc: HSF 从高异常 patch 中聚合得到的聚类特征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2578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核心改动: 用文本特征指导生成视觉 Prompt，再把它和原始视觉特征融合，得到更贴近异常语义的图像表示 V'。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E1E1E"/>
                </a:solidFill>
              </a:rPr>
              <a:t>训练目标与实现映射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200400" cy="1005840"/>
          </a:xfrm>
          <a:prstGeom prst="roundRect">
            <a:avLst/>
          </a:prstGeom>
          <a:solidFill>
            <a:srgbClr val="FFF2C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1414"/>
                </a:solidFill>
              </a:rPr>
              <a:t>公式 1
V~ = softmax(VTᵀ / √D) · 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194560"/>
            <a:ext cx="3200400" cy="1005840"/>
          </a:xfrm>
          <a:prstGeom prst="roundRect">
            <a:avLst/>
          </a:prstGeom>
          <a:solidFill>
            <a:srgbClr val="F4CCC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41414"/>
                </a:solidFill>
              </a:rPr>
              <a:t>公式 2
V' = MLP([V ; V~])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23360" y="868680"/>
            <a:ext cx="356616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图像级分类损失: CrossEntropy(V', 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783080"/>
            <a:ext cx="3566160" cy="731520"/>
          </a:xfrm>
          <a:prstGeom prst="roundRect">
            <a:avLst/>
          </a:prstGeom>
          <a:solidFill>
            <a:srgbClr val="D9EAD3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异常分类损失: FocalLoss(融合特征, 标签)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3360" y="2697480"/>
            <a:ext cx="3566160" cy="731520"/>
          </a:xfrm>
          <a:prstGeom prst="roundRect">
            <a:avLst/>
          </a:prstGeom>
          <a:solidFill>
            <a:srgbClr val="DDEBF7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像素级分割损失: Focal + Dice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3611880"/>
            <a:ext cx="3566160" cy="731520"/>
          </a:xfrm>
          <a:prstGeom prst="roundRect">
            <a:avLst/>
          </a:prstGeom>
          <a:solidFill>
            <a:srgbClr val="EAD1D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KD 损失: LLM Embedding 与 Prompt 对齐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526280"/>
            <a:ext cx="3566160" cy="731520"/>
          </a:xfrm>
          <a:prstGeom prst="roundRect">
            <a:avLst/>
          </a:prstGeom>
          <a:solidFill>
            <a:srgbClr val="D0E0E3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41414"/>
                </a:solidFill>
              </a:rPr>
              <a:t>视觉 Prompt 对齐损失: MSE(V', V~)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2377440"/>
          </a:xfrm>
          <a:prstGeom prst="roundRect">
            <a:avLst/>
          </a:prstGeom>
          <a:solidFill>
            <a:srgbClr val="F2F2F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141414"/>
                </a:solidFill>
              </a:rPr>
              <a:t>代码对应
- visual_prompt.py: VisualPromptAligner
- train_visual_prompt.py: 接入训练
- checkpoint: 同时保存 prompt_learner + visual_prompt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778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建议汇报表述: 视觉 Prompt 不是替换 CLIP 主干，而是在冻结视觉编码器的前提下，用文本语义对视觉表示做轻量对齐增强。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82880"/>
            <a:ext cx="5669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E1E1E"/>
                </a:solidFill>
              </a:rPr>
              <a:t>小创新点: 自适应双门控融合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5A5A"/>
                </a:solidFill>
              </a:rPr>
              <a:t>目的: 避免固定融合系数，按样本动态控制文本引导信息和聚类异常信息的注入强度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80160"/>
            <a:ext cx="1417320" cy="640080"/>
          </a:xfrm>
          <a:prstGeom prst="roundRect">
            <a:avLst/>
          </a:prstGeom>
          <a:solidFill>
            <a:srgbClr val="FCE4D6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原始视觉特征 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86000"/>
            <a:ext cx="1417320" cy="640080"/>
          </a:xfrm>
          <a:prstGeom prst="roundRect">
            <a:avLst/>
          </a:prstGeom>
          <a:solidFill>
            <a:srgbClr val="FFF2C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视觉 Prompt 特征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664208"/>
            <a:ext cx="1371600" cy="731520"/>
          </a:xfrm>
          <a:prstGeom prst="roundRect">
            <a:avLst/>
          </a:prstGeom>
          <a:solidFill>
            <a:srgbClr val="D9EAD3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Gate 1
自适应视觉融合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6200" y="1664208"/>
            <a:ext cx="1554480" cy="731520"/>
          </a:xfrm>
          <a:prstGeom prst="roundRect">
            <a:avLst/>
          </a:prstGeom>
          <a:solidFill>
            <a:srgbClr val="F4CCC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门控视觉特征
Vg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286000"/>
            <a:ext cx="1417320" cy="640080"/>
          </a:xfrm>
          <a:prstGeom prst="roundRect">
            <a:avLst/>
          </a:prstGeom>
          <a:solidFill>
            <a:srgbClr val="D0E0E3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HSF 聚类特征 Fc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960120"/>
            <a:ext cx="1463040" cy="731520"/>
          </a:xfrm>
          <a:prstGeom prst="roundRect">
            <a:avLst/>
          </a:prstGeom>
          <a:solidFill>
            <a:srgbClr val="D9EAD3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Gate 2
自适应聚类融合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1325880"/>
            <a:ext cx="164592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最终图像特征
Vfinal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46920" y="1325880"/>
            <a:ext cx="1645920" cy="731520"/>
          </a:xfrm>
          <a:prstGeom prst="roundRect">
            <a:avLst/>
          </a:prstGeom>
          <a:solidFill>
            <a:srgbClr val="F2F2F2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41414"/>
                </a:solidFill>
              </a:rPr>
              <a:t>异常分类 / 检测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40" y="1600200"/>
            <a:ext cx="320040" cy="429768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920240" y="2029968"/>
            <a:ext cx="320040" cy="576072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611880" y="2029968"/>
            <a:ext cx="27432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440680" y="1325880"/>
            <a:ext cx="365760" cy="704088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 flipV="1">
            <a:off x="5806440" y="1325880"/>
            <a:ext cx="1463040" cy="12801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269480" y="1325880"/>
            <a:ext cx="365760" cy="36576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81160" y="1691640"/>
            <a:ext cx="365760" cy="0"/>
          </a:xfrm>
          <a:prstGeom prst="line">
            <a:avLst/>
          </a:prstGeom>
          <a:ln w="19050">
            <a:solidFill>
              <a:srgbClr val="5A5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94360" y="3886200"/>
            <a:ext cx="5120640" cy="1051560"/>
          </a:xfrm>
          <a:prstGeom prst="roundRect">
            <a:avLst/>
          </a:prstGeom>
          <a:solidFill>
            <a:srgbClr val="FFF2C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41414"/>
                </a:solidFill>
              </a:rPr>
              <a:t>公式 1
Gv = sigmoid(MLP([V ; V']))
Vg = Gv ⊙ V' + (1 - Gv) ⊙ V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3886200"/>
            <a:ext cx="5394960" cy="1051560"/>
          </a:xfrm>
          <a:prstGeom prst="roundRect">
            <a:avLst/>
          </a:prstGeom>
          <a:solidFill>
            <a:srgbClr val="F4CCCC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41414"/>
                </a:solidFill>
              </a:rPr>
              <a:t>公式 2
Gc = sigmoid(MLP([Vg ; Fc]))
Vfinal = Gc ⊙ Fc + (1 - Gc) ⊙ Vg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3035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1E1E1E"/>
                </a:solidFill>
              </a:rPr>
              <a:t>实现位置: adaptive_fusion.py + train_visual_prompt_gate.py。额外加入 gate regularization，抑制门控过早塌缩到极端值。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